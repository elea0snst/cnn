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78" r:id="rId3"/>
    <p:sldId id="279" r:id="rId4"/>
    <p:sldId id="280" r:id="rId5"/>
    <p:sldId id="258" r:id="rId6"/>
    <p:sldId id="281" r:id="rId7"/>
    <p:sldId id="282" r:id="rId8"/>
    <p:sldId id="283" r:id="rId9"/>
    <p:sldId id="284" r:id="rId10"/>
    <p:sldId id="285" r:id="rId11"/>
    <p:sldId id="286" r:id="rId12"/>
    <p:sldId id="261" r:id="rId13"/>
    <p:sldId id="287" r:id="rId14"/>
    <p:sldId id="288" r:id="rId15"/>
    <p:sldId id="289" r:id="rId16"/>
    <p:sldId id="277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8D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12F018-66FC-4BBC-839C-C77B3B8BC222}" type="datetimeFigureOut">
              <a:rPr lang="ru-RU" smtClean="0"/>
              <a:t>25.12.2024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86971-851C-4DB0-B4CF-9D6A109166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8551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9BF1B7-070F-41C2-812D-95A33FA3D3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B931F4C-FDD4-40B9-BFF3-1D56639C35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0B3AC6-3363-4164-82B8-0D7FB869E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C42A-D626-4287-B83E-FC8D86DAB12E}" type="datetimeFigureOut">
              <a:rPr lang="ru-RU" smtClean="0"/>
              <a:t>25.12.2024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243DF2-F203-453E-8026-95BD5AC19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DB6FD0-931C-4214-B507-D7239BF72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FA9C0-C58A-42C5-8262-500D62AFF1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9584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9F8A2A-2BA2-4AE2-9A6D-C45CEB1F1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BC98B8-A178-4FEB-9B25-25DFC9675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21AD1F-339E-4E62-A660-ECE099C41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C42A-D626-4287-B83E-FC8D86DAB12E}" type="datetimeFigureOut">
              <a:rPr lang="ru-RU" smtClean="0"/>
              <a:t>25.12.2024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ACA90BD-A79A-4C2D-BEAF-CEADBD482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BF2199-18A1-45F7-A675-DBB24A2FF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FA9C0-C58A-42C5-8262-500D62AFF1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512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6ECDF9-68FF-48C3-BC2D-6CC692630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65F653-9FDB-450A-8974-B844FAD82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E67130-9080-472A-91E6-617A1969E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C42A-D626-4287-B83E-FC8D86DAB12E}" type="datetimeFigureOut">
              <a:rPr lang="ru-RU" smtClean="0"/>
              <a:t>25.12.2024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5A4482-8704-4517-B1B1-0DC1B7B75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6CEA10-BAFC-4371-A3A6-20F6CDA14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FA9C0-C58A-42C5-8262-500D62AFF1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0490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E7391B-1295-45A7-8E68-C6439DBA8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81D8E2-1CC1-4075-90CA-A052A316B1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E17B830-CEBE-4660-B419-DEA9F5CFE2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156E048-B3DB-40FF-BEC9-DEBB66C65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C42A-D626-4287-B83E-FC8D86DAB12E}" type="datetimeFigureOut">
              <a:rPr lang="ru-RU" smtClean="0"/>
              <a:t>25.12.2024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3FE7C1C-504D-431C-9D2A-EBCFF8496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4297D17-4C47-4299-A5B2-AB75A5B1A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FA9C0-C58A-42C5-8262-500D62AFF1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1695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5A9685-A218-4FE2-99AD-A7D9EED8C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C1C5184-7E6F-4735-BC74-818293490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B3E0275-DF13-4640-AB6C-64ACCE62FF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FE1D0F0-043F-4B5A-8D74-F27EE8B91F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2F1615E-BB85-4E96-A8DD-BD051E727B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138C539-063D-4A86-A7C4-665EB0243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C42A-D626-4287-B83E-FC8D86DAB12E}" type="datetimeFigureOut">
              <a:rPr lang="ru-RU" smtClean="0"/>
              <a:t>25.12.2024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10575BC-822D-418C-BB0C-FAD0C590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BA50BEA-1EB6-4BD3-9F85-DDAA71D1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FA9C0-C58A-42C5-8262-500D62AFF1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2512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C8DEF4-C35A-44EA-958D-03BEBFFA1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A63B2C6-2C08-455B-BFC6-05D71F334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C42A-D626-4287-B83E-FC8D86DAB12E}" type="datetimeFigureOut">
              <a:rPr lang="ru-RU" smtClean="0"/>
              <a:t>25.12.2024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FD43DA3-647C-478E-AACF-91BEBADB5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CD215E-83B3-46C8-B76B-9FEF247DE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FA9C0-C58A-42C5-8262-500D62AFF1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6980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03E6C33-68E9-4E41-92F4-72A2E2BF1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C42A-D626-4287-B83E-FC8D86DAB12E}" type="datetimeFigureOut">
              <a:rPr lang="ru-RU" smtClean="0"/>
              <a:t>25.12.2024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61D56A0-B8F4-4023-BB4A-C2A6CA2AA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4D1E70E-2738-4F58-8AC2-921A46F91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FA9C0-C58A-42C5-8262-500D62AFF1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8460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64A24D-2AFC-4088-9EE8-F85BD3256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2B9BA0-18EE-4528-9EEA-39F64041A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0FCE5B1-3737-4293-A0AA-20ECC38648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200B890-203A-49D5-8319-5901CD7E3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C42A-D626-4287-B83E-FC8D86DAB12E}" type="datetimeFigureOut">
              <a:rPr lang="ru-RU" smtClean="0"/>
              <a:t>25.12.2024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51D25A1-BA7C-434F-AACD-AFFF9EBD9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9A2E148-66ED-4A00-869A-F33E01CB8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FA9C0-C58A-42C5-8262-500D62AFF1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462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6BD664-BC68-4F2E-AE24-99ED7D915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CEC6968-27E7-4488-A385-F9D1EE1E3A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09C413C-B2C5-4468-B3D7-CB4A57E0B2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B46BB2B-AC52-4C15-B7C9-311D55EBB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C42A-D626-4287-B83E-FC8D86DAB12E}" type="datetimeFigureOut">
              <a:rPr lang="ru-RU" smtClean="0"/>
              <a:t>25.12.2024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1A5F2D7-A5C3-4FC5-B722-C48FB77BB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8E4AFF2-4680-4E7C-8937-5A72D2495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FA9C0-C58A-42C5-8262-500D62AFF1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3849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5E3706-FF79-4C9C-9FBA-FB347B7A2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2D8083C-8D5A-41CE-8640-FAE7ECFA72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C2CCED-B76A-4A5E-82CE-9421F1AD4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C42A-D626-4287-B83E-FC8D86DAB12E}" type="datetimeFigureOut">
              <a:rPr lang="ru-RU" smtClean="0"/>
              <a:t>25.12.2024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7E61BA-BFD9-43CA-8A62-D1A14AE69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465962-238E-4F46-884B-63C50B529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FA9C0-C58A-42C5-8262-500D62AFF1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3417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FA0B114-7824-4D31-BEDE-0EFE9191EA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9485285-3E7B-4F41-9EE0-4A5F03BB6C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DD86D66-DB15-490D-A6F6-E85646177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C42A-D626-4287-B83E-FC8D86DAB12E}" type="datetimeFigureOut">
              <a:rPr lang="ru-RU" smtClean="0"/>
              <a:t>25.12.2024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F1DC72-D08E-42D6-9BED-7E27394CD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04ED16-08C1-4FFC-AB9E-DC385E7BF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FA9C0-C58A-42C5-8262-500D62AFF1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0079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6000"/>
              </a:schemeClr>
            </a:gs>
            <a:gs pos="100000">
              <a:schemeClr val="tx1">
                <a:lumMod val="85000"/>
                <a:lumOff val="15000"/>
              </a:schemeClr>
            </a:gs>
          </a:gsLst>
          <a:lin ang="2700006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1272FB-F759-4484-AC1F-3DC7EB81D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BC0E61A-3F1E-40C8-956C-862632E9E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D1EDCC-6CB3-4DA5-BA33-B87B0C36A3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E0C42A-D626-4287-B83E-FC8D86DAB12E}" type="datetimeFigureOut">
              <a:rPr lang="ru-RU" smtClean="0"/>
              <a:t>25.12.2024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4F370FA-220E-44BE-AEF7-BB652D8DB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B021844-4343-4863-81E9-7070B64754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0FA9C0-C58A-42C5-8262-500D62AFF1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1114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09C69A-DC85-4245-A3F9-65B115EF651F}"/>
              </a:ext>
            </a:extLst>
          </p:cNvPr>
          <p:cNvSpPr txBox="1"/>
          <p:nvPr/>
        </p:nvSpPr>
        <p:spPr>
          <a:xfrm>
            <a:off x="8450225" y="5257799"/>
            <a:ext cx="3364007" cy="9322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>
                <a:gradFill>
                  <a:gsLst>
                    <a:gs pos="0">
                      <a:schemeClr val="accent1"/>
                    </a:gs>
                    <a:gs pos="100000">
                      <a:srgbClr val="DF8DCF"/>
                    </a:gs>
                  </a:gsLst>
                  <a:lin ang="2698631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Работу выполнили студенты группы 3 ИСиП-322</a:t>
            </a:r>
          </a:p>
          <a:p>
            <a:pPr algn="r"/>
            <a:r>
              <a:rPr lang="ru-RU" dirty="0">
                <a:gradFill>
                  <a:gsLst>
                    <a:gs pos="0">
                      <a:schemeClr val="accent1"/>
                    </a:gs>
                    <a:gs pos="100000">
                      <a:srgbClr val="DF8DCF"/>
                    </a:gs>
                  </a:gsLst>
                  <a:lin ang="2698631" scaled="0"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Колосова Д. С., Сергеев И. Д.</a:t>
            </a:r>
            <a:endParaRPr lang="ru-RU" sz="4000" dirty="0">
              <a:gradFill>
                <a:gsLst>
                  <a:gs pos="0">
                    <a:schemeClr val="accent1"/>
                  </a:gs>
                  <a:gs pos="100000">
                    <a:srgbClr val="DF8DCF"/>
                  </a:gs>
                </a:gsLst>
                <a:lin ang="2698631" scaled="0"/>
              </a:gra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Google Shape;742;p22">
            <a:extLst>
              <a:ext uri="{FF2B5EF4-FFF2-40B4-BE49-F238E27FC236}">
                <a16:creationId xmlns:a16="http://schemas.microsoft.com/office/drawing/2014/main" id="{F8BC2A4B-B35B-4BED-A4D4-7F782DFB7714}"/>
              </a:ext>
            </a:extLst>
          </p:cNvPr>
          <p:cNvSpPr/>
          <p:nvPr/>
        </p:nvSpPr>
        <p:spPr>
          <a:xfrm>
            <a:off x="1435683" y="1432716"/>
            <a:ext cx="9320633" cy="138354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rgbClr val="DF8DCF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3600" b="1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Проект </a:t>
            </a:r>
          </a:p>
          <a:p>
            <a:r>
              <a:rPr lang="ru-RU" sz="3600" b="1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«Распознавание эмоций по лицам»  </a:t>
            </a:r>
          </a:p>
        </p:txBody>
      </p:sp>
    </p:spTree>
    <p:extLst>
      <p:ext uri="{BB962C8B-B14F-4D97-AF65-F5344CB8AC3E}">
        <p14:creationId xmlns:p14="http://schemas.microsoft.com/office/powerpoint/2010/main" val="4181414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42;p22">
            <a:extLst>
              <a:ext uri="{FF2B5EF4-FFF2-40B4-BE49-F238E27FC236}">
                <a16:creationId xmlns:a16="http://schemas.microsoft.com/office/drawing/2014/main" id="{C096CB05-2B38-4C78-B636-C43C21C04643}"/>
              </a:ext>
            </a:extLst>
          </p:cNvPr>
          <p:cNvSpPr/>
          <p:nvPr/>
        </p:nvSpPr>
        <p:spPr>
          <a:xfrm>
            <a:off x="393700" y="678730"/>
            <a:ext cx="1965250" cy="55616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rgbClr val="DF8DCF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24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Введение</a:t>
            </a:r>
            <a:endParaRPr lang="ru-RU" sz="24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CDABAB-D84E-481C-A947-7B3F4A7BE577}"/>
              </a:ext>
            </a:extLst>
          </p:cNvPr>
          <p:cNvSpPr txBox="1"/>
          <p:nvPr/>
        </p:nvSpPr>
        <p:spPr>
          <a:xfrm>
            <a:off x="393700" y="1580456"/>
            <a:ext cx="11404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Распознавание эмоций по лицам с помощью машинного обучения — это процесс автоматического определения эмоционального состояния человека на основе изображений лиц. Он включает несколько ключевых этапов: обработку изображений, извлечение признаков и классификацию эмоций.</a:t>
            </a:r>
          </a:p>
          <a:p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Основой этой технологии являются глубокие нейронные сети, которые анализируют мимику и выражения лиц с высокой точностью. Например, </a:t>
            </a:r>
            <a:r>
              <a:rPr lang="ru-RU" dirty="0" err="1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сверточные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нейронные сети (CNN) обрабатывают изображения и выявляют паттерны, соответствующие эмоциям, таким как счастье, грусть, гнев и страх. Эти системы применяются в различных областях, включая маркетинг, психологию, медицину и безопасность.</a:t>
            </a:r>
          </a:p>
          <a:p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Для обучения моделей используются специализированные наборы данных, такие как FER2013, содержащие тысячи размеченных изображений лиц с разными эмоциями. Это позволяет моделям точно классифицировать эмоциональные состояния.</a:t>
            </a:r>
          </a:p>
        </p:txBody>
      </p:sp>
    </p:spTree>
    <p:extLst>
      <p:ext uri="{BB962C8B-B14F-4D97-AF65-F5344CB8AC3E}">
        <p14:creationId xmlns:p14="http://schemas.microsoft.com/office/powerpoint/2010/main" val="402892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42;p22">
            <a:extLst>
              <a:ext uri="{FF2B5EF4-FFF2-40B4-BE49-F238E27FC236}">
                <a16:creationId xmlns:a16="http://schemas.microsoft.com/office/drawing/2014/main" id="{C096CB05-2B38-4C78-B636-C43C21C04643}"/>
              </a:ext>
            </a:extLst>
          </p:cNvPr>
          <p:cNvSpPr/>
          <p:nvPr/>
        </p:nvSpPr>
        <p:spPr>
          <a:xfrm>
            <a:off x="393700" y="669302"/>
            <a:ext cx="2208098" cy="565589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rgbClr val="DF8DCF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24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Актуальность</a:t>
            </a:r>
            <a:endParaRPr lang="ru-RU" sz="24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CDABAB-D84E-481C-A947-7B3F4A7BE577}"/>
              </a:ext>
            </a:extLst>
          </p:cNvPr>
          <p:cNvSpPr txBox="1"/>
          <p:nvPr/>
        </p:nvSpPr>
        <p:spPr>
          <a:xfrm>
            <a:off x="393700" y="1580456"/>
            <a:ext cx="11404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Распознавание эмоций становится все более важным в современном мире, где технологии искусственного интеллекта активно внедряются в различные сферы. Эта задача способствует улучшению взаимодействия между людьми и системами и повышает эффективность в таких областях, как психология, медицина, безопасность и маркетинг. С учетом растущей потребности в автоматизации анализа эмоционального состояния использование глубоких нейронных сетей позволяет достигать высокой точности распознавания эмоций.</a:t>
            </a:r>
          </a:p>
        </p:txBody>
      </p:sp>
    </p:spTree>
    <p:extLst>
      <p:ext uri="{BB962C8B-B14F-4D97-AF65-F5344CB8AC3E}">
        <p14:creationId xmlns:p14="http://schemas.microsoft.com/office/powerpoint/2010/main" val="3117783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42;p22">
            <a:extLst>
              <a:ext uri="{FF2B5EF4-FFF2-40B4-BE49-F238E27FC236}">
                <a16:creationId xmlns:a16="http://schemas.microsoft.com/office/drawing/2014/main" id="{C096CB05-2B38-4C78-B636-C43C21C04643}"/>
              </a:ext>
            </a:extLst>
          </p:cNvPr>
          <p:cNvSpPr/>
          <p:nvPr/>
        </p:nvSpPr>
        <p:spPr>
          <a:xfrm>
            <a:off x="393700" y="669302"/>
            <a:ext cx="2208098" cy="565589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rgbClr val="DF8DCF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24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Цель проекта</a:t>
            </a:r>
            <a:endParaRPr lang="ru-RU" sz="24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CDABAB-D84E-481C-A947-7B3F4A7BE577}"/>
              </a:ext>
            </a:extLst>
          </p:cNvPr>
          <p:cNvSpPr txBox="1"/>
          <p:nvPr/>
        </p:nvSpPr>
        <p:spPr>
          <a:xfrm>
            <a:off x="393700" y="1580456"/>
            <a:ext cx="11404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Цель проекта — разработать систему распознавания эмоций на основе анализа лицевых выражений с использованием методов машинного обучения. Мы стремимся создать эффективную модель, способную точно классифицировать эмоциональные состояния человека — гнев, отвращение, страх, радость, нейтральное состояние, грусть и удивление — на основе изображений лиц. Это позволит не только автоматизировать процесс распознавания эмоций, но и расширить его применение в различных сферах.</a:t>
            </a:r>
          </a:p>
        </p:txBody>
      </p:sp>
    </p:spTree>
    <p:extLst>
      <p:ext uri="{BB962C8B-B14F-4D97-AF65-F5344CB8AC3E}">
        <p14:creationId xmlns:p14="http://schemas.microsoft.com/office/powerpoint/2010/main" val="2966513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E09BEDF-A88E-409B-AD53-7601ABE6D90A}"/>
              </a:ext>
            </a:extLst>
          </p:cNvPr>
          <p:cNvSpPr txBox="1"/>
          <p:nvPr/>
        </p:nvSpPr>
        <p:spPr>
          <a:xfrm>
            <a:off x="2472181" y="3334266"/>
            <a:ext cx="289010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 этом этапе импортируются необходимые библиотеки для работы с данными и построения нейронной сети. Используются: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A3AA41-8CBA-4184-87CF-425D757D0449}"/>
              </a:ext>
            </a:extLst>
          </p:cNvPr>
          <p:cNvSpPr txBox="1"/>
          <p:nvPr/>
        </p:nvSpPr>
        <p:spPr>
          <a:xfrm>
            <a:off x="4247326" y="306327"/>
            <a:ext cx="36973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i="0" dirty="0">
                <a:gradFill>
                  <a:gsLst>
                    <a:gs pos="0">
                      <a:srgbClr val="0070C0"/>
                    </a:gs>
                    <a:gs pos="100000">
                      <a:srgbClr val="DF8DCF"/>
                    </a:gs>
                  </a:gsLst>
                  <a:lin ang="2700006" scaled="0"/>
                </a:gra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Этапы разработки</a:t>
            </a:r>
          </a:p>
        </p:txBody>
      </p:sp>
      <p:sp>
        <p:nvSpPr>
          <p:cNvPr id="11" name="Google Shape;742;p22">
            <a:extLst>
              <a:ext uri="{FF2B5EF4-FFF2-40B4-BE49-F238E27FC236}">
                <a16:creationId xmlns:a16="http://schemas.microsoft.com/office/drawing/2014/main" id="{E9431615-5D21-433E-AFAB-8E158CD99875}"/>
              </a:ext>
            </a:extLst>
          </p:cNvPr>
          <p:cNvSpPr/>
          <p:nvPr/>
        </p:nvSpPr>
        <p:spPr>
          <a:xfrm>
            <a:off x="310293" y="1253341"/>
            <a:ext cx="2290667" cy="69086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rgbClr val="DF8DCF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Импорт библиотек и модулей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8E1BCD03-48F7-4F7B-B405-BD4C56B1F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LinkedList&lt;T&gt;</a:t>
            </a:r>
            <a:endParaRPr kumimoji="0" lang="ru-RU" altLang="ru-RU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ar(--font-fk-grotesk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Google Shape;742;p22">
            <a:extLst>
              <a:ext uri="{FF2B5EF4-FFF2-40B4-BE49-F238E27FC236}">
                <a16:creationId xmlns:a16="http://schemas.microsoft.com/office/drawing/2014/main" id="{15BB9453-A01C-4571-9DA0-340A0E291273}"/>
              </a:ext>
            </a:extLst>
          </p:cNvPr>
          <p:cNvSpPr/>
          <p:nvPr/>
        </p:nvSpPr>
        <p:spPr>
          <a:xfrm>
            <a:off x="2946767" y="1224073"/>
            <a:ext cx="3006627" cy="690860"/>
          </a:xfrm>
          <a:prstGeom prst="roundRect">
            <a:avLst>
              <a:gd name="adj" fmla="val 50000"/>
            </a:avLst>
          </a:prstGeom>
          <a:noFill/>
          <a:ln w="317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Загрузка </a:t>
            </a:r>
            <a:r>
              <a:rPr lang="ru-RU" sz="1600" b="1" i="0" dirty="0" err="1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датасета</a:t>
            </a:r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 и предобработка изображений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Google Shape;742;p22">
            <a:extLst>
              <a:ext uri="{FF2B5EF4-FFF2-40B4-BE49-F238E27FC236}">
                <a16:creationId xmlns:a16="http://schemas.microsoft.com/office/drawing/2014/main" id="{14CA4A9B-DE69-4D51-8E9B-9D5C3550086E}"/>
              </a:ext>
            </a:extLst>
          </p:cNvPr>
          <p:cNvSpPr/>
          <p:nvPr/>
        </p:nvSpPr>
        <p:spPr>
          <a:xfrm>
            <a:off x="6299202" y="1230592"/>
            <a:ext cx="2473187" cy="690860"/>
          </a:xfrm>
          <a:prstGeom prst="roundRect">
            <a:avLst>
              <a:gd name="adj" fmla="val 50000"/>
            </a:avLst>
          </a:prstGeom>
          <a:noFill/>
          <a:ln w="317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Функция аугментации изображений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Google Shape;742;p22">
            <a:extLst>
              <a:ext uri="{FF2B5EF4-FFF2-40B4-BE49-F238E27FC236}">
                <a16:creationId xmlns:a16="http://schemas.microsoft.com/office/drawing/2014/main" id="{57412C48-AEF1-49E9-AA03-3F05E4AD1405}"/>
              </a:ext>
            </a:extLst>
          </p:cNvPr>
          <p:cNvSpPr/>
          <p:nvPr/>
        </p:nvSpPr>
        <p:spPr>
          <a:xfrm>
            <a:off x="9118197" y="1224073"/>
            <a:ext cx="2778347" cy="690860"/>
          </a:xfrm>
          <a:prstGeom prst="roundRect">
            <a:avLst>
              <a:gd name="adj" fmla="val 50000"/>
            </a:avLst>
          </a:prstGeom>
          <a:noFill/>
          <a:ln w="317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Определение архитектуры нейронной сети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Google Shape;742;p22">
            <a:extLst>
              <a:ext uri="{FF2B5EF4-FFF2-40B4-BE49-F238E27FC236}">
                <a16:creationId xmlns:a16="http://schemas.microsoft.com/office/drawing/2014/main" id="{C2BCFAE9-40A9-465D-8687-7DD4BC0AD83A}"/>
              </a:ext>
            </a:extLst>
          </p:cNvPr>
          <p:cNvSpPr/>
          <p:nvPr/>
        </p:nvSpPr>
        <p:spPr>
          <a:xfrm>
            <a:off x="1354122" y="2171145"/>
            <a:ext cx="2780361" cy="690860"/>
          </a:xfrm>
          <a:prstGeom prst="roundRect">
            <a:avLst>
              <a:gd name="adj" fmla="val 50000"/>
            </a:avLst>
          </a:prstGeom>
          <a:noFill/>
          <a:ln w="317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Настройка оптимизатора и функции потерь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Google Shape;742;p22">
            <a:extLst>
              <a:ext uri="{FF2B5EF4-FFF2-40B4-BE49-F238E27FC236}">
                <a16:creationId xmlns:a16="http://schemas.microsoft.com/office/drawing/2014/main" id="{B97BE163-F827-4E87-9E71-F7C4EAF20163}"/>
              </a:ext>
            </a:extLst>
          </p:cNvPr>
          <p:cNvSpPr/>
          <p:nvPr/>
        </p:nvSpPr>
        <p:spPr>
          <a:xfrm>
            <a:off x="5362288" y="2171145"/>
            <a:ext cx="2173507" cy="690860"/>
          </a:xfrm>
          <a:prstGeom prst="roundRect">
            <a:avLst>
              <a:gd name="adj" fmla="val 50000"/>
            </a:avLst>
          </a:prstGeom>
          <a:noFill/>
          <a:ln w="317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Тренировка модели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Google Shape;742;p22">
            <a:extLst>
              <a:ext uri="{FF2B5EF4-FFF2-40B4-BE49-F238E27FC236}">
                <a16:creationId xmlns:a16="http://schemas.microsoft.com/office/drawing/2014/main" id="{D8C83FC5-7E12-4323-AF0D-51639FFD57A3}"/>
              </a:ext>
            </a:extLst>
          </p:cNvPr>
          <p:cNvSpPr/>
          <p:nvPr/>
        </p:nvSpPr>
        <p:spPr>
          <a:xfrm>
            <a:off x="8763600" y="2171145"/>
            <a:ext cx="2173507" cy="690860"/>
          </a:xfrm>
          <a:prstGeom prst="roundRect">
            <a:avLst>
              <a:gd name="adj" fmla="val 50000"/>
            </a:avLst>
          </a:prstGeom>
          <a:noFill/>
          <a:ln w="317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Оценка результатов обучения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5FFF3ED-D35B-4049-80FB-70B93345F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2363" y="3365062"/>
            <a:ext cx="5334744" cy="2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881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E09BEDF-A88E-409B-AD53-7601ABE6D90A}"/>
              </a:ext>
            </a:extLst>
          </p:cNvPr>
          <p:cNvSpPr txBox="1"/>
          <p:nvPr/>
        </p:nvSpPr>
        <p:spPr>
          <a:xfrm>
            <a:off x="977377" y="3283288"/>
            <a:ext cx="393877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Здесь происходит загрузка изображений из папок, а также их предобработка:</a:t>
            </a:r>
          </a:p>
          <a:p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Изображения изменяются до размера 48×48 пикселей.</a:t>
            </a:r>
          </a:p>
          <a:p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Применяются аугментации, такие как случайное отражение и нормализация, чтобы улучшить обобщающую способность модели.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A3AA41-8CBA-4184-87CF-425D757D0449}"/>
              </a:ext>
            </a:extLst>
          </p:cNvPr>
          <p:cNvSpPr txBox="1"/>
          <p:nvPr/>
        </p:nvSpPr>
        <p:spPr>
          <a:xfrm>
            <a:off x="4247326" y="306327"/>
            <a:ext cx="36973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i="0" dirty="0">
                <a:gradFill>
                  <a:gsLst>
                    <a:gs pos="0">
                      <a:srgbClr val="0070C0"/>
                    </a:gs>
                    <a:gs pos="100000">
                      <a:srgbClr val="DF8DCF"/>
                    </a:gs>
                  </a:gsLst>
                  <a:lin ang="2700006" scaled="0"/>
                </a:gra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Этапы разработки</a:t>
            </a:r>
          </a:p>
        </p:txBody>
      </p:sp>
      <p:sp>
        <p:nvSpPr>
          <p:cNvPr id="11" name="Google Shape;742;p22">
            <a:extLst>
              <a:ext uri="{FF2B5EF4-FFF2-40B4-BE49-F238E27FC236}">
                <a16:creationId xmlns:a16="http://schemas.microsoft.com/office/drawing/2014/main" id="{E9431615-5D21-433E-AFAB-8E158CD99875}"/>
              </a:ext>
            </a:extLst>
          </p:cNvPr>
          <p:cNvSpPr/>
          <p:nvPr/>
        </p:nvSpPr>
        <p:spPr>
          <a:xfrm>
            <a:off x="310293" y="1253341"/>
            <a:ext cx="2290667" cy="690860"/>
          </a:xfrm>
          <a:prstGeom prst="roundRect">
            <a:avLst>
              <a:gd name="adj" fmla="val 50000"/>
            </a:avLst>
          </a:prstGeom>
          <a:noFill/>
          <a:ln w="317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Импорт библиотек и модулей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8E1BCD03-48F7-4F7B-B405-BD4C56B1F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LinkedList&lt;T&gt;</a:t>
            </a:r>
            <a:endParaRPr kumimoji="0" lang="ru-RU" altLang="ru-RU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ar(--font-fk-grotesk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Google Shape;742;p22">
            <a:extLst>
              <a:ext uri="{FF2B5EF4-FFF2-40B4-BE49-F238E27FC236}">
                <a16:creationId xmlns:a16="http://schemas.microsoft.com/office/drawing/2014/main" id="{15BB9453-A01C-4571-9DA0-340A0E291273}"/>
              </a:ext>
            </a:extLst>
          </p:cNvPr>
          <p:cNvSpPr/>
          <p:nvPr/>
        </p:nvSpPr>
        <p:spPr>
          <a:xfrm>
            <a:off x="2946767" y="1224073"/>
            <a:ext cx="3006627" cy="69086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5">
                  <a:lumMod val="75000"/>
                </a:schemeClr>
              </a:gs>
              <a:gs pos="100000">
                <a:srgbClr val="DF8DCF"/>
              </a:gs>
            </a:gsLst>
            <a:lin ang="2700006" scaled="0"/>
          </a:gradFill>
          <a:ln w="3175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Загрузка </a:t>
            </a:r>
            <a:r>
              <a:rPr lang="ru-RU" sz="1600" b="1" i="0" dirty="0" err="1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датасета</a:t>
            </a:r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 и предобработка изображений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Google Shape;742;p22">
            <a:extLst>
              <a:ext uri="{FF2B5EF4-FFF2-40B4-BE49-F238E27FC236}">
                <a16:creationId xmlns:a16="http://schemas.microsoft.com/office/drawing/2014/main" id="{14CA4A9B-DE69-4D51-8E9B-9D5C3550086E}"/>
              </a:ext>
            </a:extLst>
          </p:cNvPr>
          <p:cNvSpPr/>
          <p:nvPr/>
        </p:nvSpPr>
        <p:spPr>
          <a:xfrm>
            <a:off x="6299202" y="1230592"/>
            <a:ext cx="2473187" cy="690860"/>
          </a:xfrm>
          <a:prstGeom prst="roundRect">
            <a:avLst>
              <a:gd name="adj" fmla="val 50000"/>
            </a:avLst>
          </a:prstGeom>
          <a:noFill/>
          <a:ln w="317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Функция аугментации изображений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Google Shape;742;p22">
            <a:extLst>
              <a:ext uri="{FF2B5EF4-FFF2-40B4-BE49-F238E27FC236}">
                <a16:creationId xmlns:a16="http://schemas.microsoft.com/office/drawing/2014/main" id="{57412C48-AEF1-49E9-AA03-3F05E4AD1405}"/>
              </a:ext>
            </a:extLst>
          </p:cNvPr>
          <p:cNvSpPr/>
          <p:nvPr/>
        </p:nvSpPr>
        <p:spPr>
          <a:xfrm>
            <a:off x="9118197" y="1224073"/>
            <a:ext cx="2778347" cy="690860"/>
          </a:xfrm>
          <a:prstGeom prst="roundRect">
            <a:avLst>
              <a:gd name="adj" fmla="val 50000"/>
            </a:avLst>
          </a:prstGeom>
          <a:noFill/>
          <a:ln w="317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Определение архитектуры нейронной сети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Google Shape;742;p22">
            <a:extLst>
              <a:ext uri="{FF2B5EF4-FFF2-40B4-BE49-F238E27FC236}">
                <a16:creationId xmlns:a16="http://schemas.microsoft.com/office/drawing/2014/main" id="{C2BCFAE9-40A9-465D-8687-7DD4BC0AD83A}"/>
              </a:ext>
            </a:extLst>
          </p:cNvPr>
          <p:cNvSpPr/>
          <p:nvPr/>
        </p:nvSpPr>
        <p:spPr>
          <a:xfrm>
            <a:off x="1354122" y="2171145"/>
            <a:ext cx="2780361" cy="690860"/>
          </a:xfrm>
          <a:prstGeom prst="roundRect">
            <a:avLst>
              <a:gd name="adj" fmla="val 50000"/>
            </a:avLst>
          </a:prstGeom>
          <a:noFill/>
          <a:ln w="317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Настройка оптимизатора и функции потерь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Google Shape;742;p22">
            <a:extLst>
              <a:ext uri="{FF2B5EF4-FFF2-40B4-BE49-F238E27FC236}">
                <a16:creationId xmlns:a16="http://schemas.microsoft.com/office/drawing/2014/main" id="{B97BE163-F827-4E87-9E71-F7C4EAF20163}"/>
              </a:ext>
            </a:extLst>
          </p:cNvPr>
          <p:cNvSpPr/>
          <p:nvPr/>
        </p:nvSpPr>
        <p:spPr>
          <a:xfrm>
            <a:off x="5362288" y="2171145"/>
            <a:ext cx="2173507" cy="690860"/>
          </a:xfrm>
          <a:prstGeom prst="roundRect">
            <a:avLst>
              <a:gd name="adj" fmla="val 50000"/>
            </a:avLst>
          </a:prstGeom>
          <a:noFill/>
          <a:ln w="317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Тренировка модели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Google Shape;742;p22">
            <a:extLst>
              <a:ext uri="{FF2B5EF4-FFF2-40B4-BE49-F238E27FC236}">
                <a16:creationId xmlns:a16="http://schemas.microsoft.com/office/drawing/2014/main" id="{D8C83FC5-7E12-4323-AF0D-51639FFD57A3}"/>
              </a:ext>
            </a:extLst>
          </p:cNvPr>
          <p:cNvSpPr/>
          <p:nvPr/>
        </p:nvSpPr>
        <p:spPr>
          <a:xfrm>
            <a:off x="8763600" y="2171145"/>
            <a:ext cx="2173507" cy="690860"/>
          </a:xfrm>
          <a:prstGeom prst="roundRect">
            <a:avLst>
              <a:gd name="adj" fmla="val 50000"/>
            </a:avLst>
          </a:prstGeom>
          <a:noFill/>
          <a:ln w="317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Оценка результатов обучения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53B398D-B434-4A7C-9500-7A213D883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458" y="3437928"/>
            <a:ext cx="6525555" cy="1992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277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E09BEDF-A88E-409B-AD53-7601ABE6D90A}"/>
              </a:ext>
            </a:extLst>
          </p:cNvPr>
          <p:cNvSpPr txBox="1"/>
          <p:nvPr/>
        </p:nvSpPr>
        <p:spPr>
          <a:xfrm>
            <a:off x="977377" y="3283288"/>
            <a:ext cx="393877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Функция </a:t>
            </a:r>
            <a:r>
              <a:rPr lang="ru-RU" dirty="0" err="1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augment_images_for_class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создает дополнительные копии изображений с различными аугментациями (например, повороты и изменение яркости). Это увеличивает объем данных для обучения и помогает модели лучше справляться с вариативностью входных данных.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A3AA41-8CBA-4184-87CF-425D757D0449}"/>
              </a:ext>
            </a:extLst>
          </p:cNvPr>
          <p:cNvSpPr txBox="1"/>
          <p:nvPr/>
        </p:nvSpPr>
        <p:spPr>
          <a:xfrm>
            <a:off x="4247326" y="306327"/>
            <a:ext cx="36973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i="0" dirty="0">
                <a:gradFill>
                  <a:gsLst>
                    <a:gs pos="0">
                      <a:srgbClr val="0070C0"/>
                    </a:gs>
                    <a:gs pos="100000">
                      <a:srgbClr val="DF8DCF"/>
                    </a:gs>
                  </a:gsLst>
                  <a:lin ang="2700006" scaled="0"/>
                </a:gra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Этапы разработки</a:t>
            </a:r>
          </a:p>
        </p:txBody>
      </p:sp>
      <p:sp>
        <p:nvSpPr>
          <p:cNvPr id="11" name="Google Shape;742;p22">
            <a:extLst>
              <a:ext uri="{FF2B5EF4-FFF2-40B4-BE49-F238E27FC236}">
                <a16:creationId xmlns:a16="http://schemas.microsoft.com/office/drawing/2014/main" id="{E9431615-5D21-433E-AFAB-8E158CD99875}"/>
              </a:ext>
            </a:extLst>
          </p:cNvPr>
          <p:cNvSpPr/>
          <p:nvPr/>
        </p:nvSpPr>
        <p:spPr>
          <a:xfrm>
            <a:off x="310293" y="1253341"/>
            <a:ext cx="2290667" cy="690860"/>
          </a:xfrm>
          <a:prstGeom prst="roundRect">
            <a:avLst>
              <a:gd name="adj" fmla="val 50000"/>
            </a:avLst>
          </a:prstGeom>
          <a:noFill/>
          <a:ln w="317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Импорт библиотек и модулей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8E1BCD03-48F7-4F7B-B405-BD4C56B1F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LinkedList&lt;T&gt;</a:t>
            </a:r>
            <a:endParaRPr kumimoji="0" lang="ru-RU" altLang="ru-RU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ar(--font-fk-grotesk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Google Shape;742;p22">
            <a:extLst>
              <a:ext uri="{FF2B5EF4-FFF2-40B4-BE49-F238E27FC236}">
                <a16:creationId xmlns:a16="http://schemas.microsoft.com/office/drawing/2014/main" id="{15BB9453-A01C-4571-9DA0-340A0E291273}"/>
              </a:ext>
            </a:extLst>
          </p:cNvPr>
          <p:cNvSpPr/>
          <p:nvPr/>
        </p:nvSpPr>
        <p:spPr>
          <a:xfrm>
            <a:off x="2946767" y="1224073"/>
            <a:ext cx="3006627" cy="690860"/>
          </a:xfrm>
          <a:prstGeom prst="roundRect">
            <a:avLst>
              <a:gd name="adj" fmla="val 50000"/>
            </a:avLst>
          </a:prstGeom>
          <a:noFill/>
          <a:ln w="317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Загрузка </a:t>
            </a:r>
            <a:r>
              <a:rPr lang="ru-RU" sz="1600" b="1" i="0" dirty="0" err="1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датасета</a:t>
            </a:r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 и предобработка изображений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Google Shape;742;p22">
            <a:extLst>
              <a:ext uri="{FF2B5EF4-FFF2-40B4-BE49-F238E27FC236}">
                <a16:creationId xmlns:a16="http://schemas.microsoft.com/office/drawing/2014/main" id="{14CA4A9B-DE69-4D51-8E9B-9D5C3550086E}"/>
              </a:ext>
            </a:extLst>
          </p:cNvPr>
          <p:cNvSpPr/>
          <p:nvPr/>
        </p:nvSpPr>
        <p:spPr>
          <a:xfrm>
            <a:off x="6299202" y="1230592"/>
            <a:ext cx="2473187" cy="69086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5">
                  <a:lumMod val="75000"/>
                </a:schemeClr>
              </a:gs>
              <a:gs pos="100000">
                <a:srgbClr val="DF8DCF"/>
              </a:gs>
            </a:gsLst>
            <a:lin ang="2700006" scaled="0"/>
          </a:gradFill>
          <a:ln w="3175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Функция аугментации изображений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Google Shape;742;p22">
            <a:extLst>
              <a:ext uri="{FF2B5EF4-FFF2-40B4-BE49-F238E27FC236}">
                <a16:creationId xmlns:a16="http://schemas.microsoft.com/office/drawing/2014/main" id="{57412C48-AEF1-49E9-AA03-3F05E4AD1405}"/>
              </a:ext>
            </a:extLst>
          </p:cNvPr>
          <p:cNvSpPr/>
          <p:nvPr/>
        </p:nvSpPr>
        <p:spPr>
          <a:xfrm>
            <a:off x="9118197" y="1224073"/>
            <a:ext cx="2778347" cy="690860"/>
          </a:xfrm>
          <a:prstGeom prst="roundRect">
            <a:avLst>
              <a:gd name="adj" fmla="val 50000"/>
            </a:avLst>
          </a:prstGeom>
          <a:noFill/>
          <a:ln w="317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Определение архитектуры нейронной сети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Google Shape;742;p22">
            <a:extLst>
              <a:ext uri="{FF2B5EF4-FFF2-40B4-BE49-F238E27FC236}">
                <a16:creationId xmlns:a16="http://schemas.microsoft.com/office/drawing/2014/main" id="{C2BCFAE9-40A9-465D-8687-7DD4BC0AD83A}"/>
              </a:ext>
            </a:extLst>
          </p:cNvPr>
          <p:cNvSpPr/>
          <p:nvPr/>
        </p:nvSpPr>
        <p:spPr>
          <a:xfrm>
            <a:off x="1354122" y="2171145"/>
            <a:ext cx="2780361" cy="690860"/>
          </a:xfrm>
          <a:prstGeom prst="roundRect">
            <a:avLst>
              <a:gd name="adj" fmla="val 50000"/>
            </a:avLst>
          </a:prstGeom>
          <a:noFill/>
          <a:ln w="317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Настройка оптимизатора и функции потерь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Google Shape;742;p22">
            <a:extLst>
              <a:ext uri="{FF2B5EF4-FFF2-40B4-BE49-F238E27FC236}">
                <a16:creationId xmlns:a16="http://schemas.microsoft.com/office/drawing/2014/main" id="{B97BE163-F827-4E87-9E71-F7C4EAF20163}"/>
              </a:ext>
            </a:extLst>
          </p:cNvPr>
          <p:cNvSpPr/>
          <p:nvPr/>
        </p:nvSpPr>
        <p:spPr>
          <a:xfrm>
            <a:off x="5362288" y="2171145"/>
            <a:ext cx="2173507" cy="690860"/>
          </a:xfrm>
          <a:prstGeom prst="roundRect">
            <a:avLst>
              <a:gd name="adj" fmla="val 50000"/>
            </a:avLst>
          </a:prstGeom>
          <a:noFill/>
          <a:ln w="317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Тренировка модели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Google Shape;742;p22">
            <a:extLst>
              <a:ext uri="{FF2B5EF4-FFF2-40B4-BE49-F238E27FC236}">
                <a16:creationId xmlns:a16="http://schemas.microsoft.com/office/drawing/2014/main" id="{D8C83FC5-7E12-4323-AF0D-51639FFD57A3}"/>
              </a:ext>
            </a:extLst>
          </p:cNvPr>
          <p:cNvSpPr/>
          <p:nvPr/>
        </p:nvSpPr>
        <p:spPr>
          <a:xfrm>
            <a:off x="8763600" y="2171145"/>
            <a:ext cx="2173507" cy="690860"/>
          </a:xfrm>
          <a:prstGeom prst="roundRect">
            <a:avLst>
              <a:gd name="adj" fmla="val 50000"/>
            </a:avLst>
          </a:prstGeom>
          <a:noFill/>
          <a:ln w="317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Оценка результатов обучения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DDE1597-9D22-41AA-99A8-0DD318CBC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4119" y="3071366"/>
            <a:ext cx="4941107" cy="369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021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E09BEDF-A88E-409B-AD53-7601ABE6D90A}"/>
              </a:ext>
            </a:extLst>
          </p:cNvPr>
          <p:cNvSpPr txBox="1"/>
          <p:nvPr/>
        </p:nvSpPr>
        <p:spPr>
          <a:xfrm>
            <a:off x="977377" y="3283288"/>
            <a:ext cx="393877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Создается класс </a:t>
            </a:r>
            <a:r>
              <a:rPr lang="ru-RU" dirty="0" err="1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EmotionCNN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который описывает архитектуру </a:t>
            </a:r>
            <a:r>
              <a:rPr lang="ru-RU" dirty="0" err="1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сверточной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нейронной сети. Она включает слои свертки, активации </a:t>
            </a:r>
            <a:r>
              <a:rPr lang="ru-RU" dirty="0" err="1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ReLU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и </a:t>
            </a:r>
            <a:r>
              <a:rPr lang="ru-RU" dirty="0" err="1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подвыборки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ru-RU" dirty="0" err="1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MaxPooling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), а также </a:t>
            </a:r>
            <a:r>
              <a:rPr lang="ru-RU" dirty="0" err="1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полносвязные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слои для классификации эмоций..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A3AA41-8CBA-4184-87CF-425D757D0449}"/>
              </a:ext>
            </a:extLst>
          </p:cNvPr>
          <p:cNvSpPr txBox="1"/>
          <p:nvPr/>
        </p:nvSpPr>
        <p:spPr>
          <a:xfrm>
            <a:off x="4247326" y="306327"/>
            <a:ext cx="36973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i="0" dirty="0">
                <a:gradFill>
                  <a:gsLst>
                    <a:gs pos="0">
                      <a:srgbClr val="0070C0"/>
                    </a:gs>
                    <a:gs pos="100000">
                      <a:srgbClr val="DF8DCF"/>
                    </a:gs>
                  </a:gsLst>
                  <a:lin ang="2700006" scaled="0"/>
                </a:gra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Этапы разработки</a:t>
            </a:r>
          </a:p>
        </p:txBody>
      </p:sp>
      <p:sp>
        <p:nvSpPr>
          <p:cNvPr id="11" name="Google Shape;742;p22">
            <a:extLst>
              <a:ext uri="{FF2B5EF4-FFF2-40B4-BE49-F238E27FC236}">
                <a16:creationId xmlns:a16="http://schemas.microsoft.com/office/drawing/2014/main" id="{E9431615-5D21-433E-AFAB-8E158CD99875}"/>
              </a:ext>
            </a:extLst>
          </p:cNvPr>
          <p:cNvSpPr/>
          <p:nvPr/>
        </p:nvSpPr>
        <p:spPr>
          <a:xfrm>
            <a:off x="310293" y="1253341"/>
            <a:ext cx="2290667" cy="690860"/>
          </a:xfrm>
          <a:prstGeom prst="roundRect">
            <a:avLst>
              <a:gd name="adj" fmla="val 50000"/>
            </a:avLst>
          </a:prstGeom>
          <a:noFill/>
          <a:ln w="317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Импорт библиотек и модулей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8E1BCD03-48F7-4F7B-B405-BD4C56B1F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LinkedList&lt;T&gt;</a:t>
            </a:r>
            <a:endParaRPr kumimoji="0" lang="ru-RU" altLang="ru-RU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ar(--font-fk-grotesk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Google Shape;742;p22">
            <a:extLst>
              <a:ext uri="{FF2B5EF4-FFF2-40B4-BE49-F238E27FC236}">
                <a16:creationId xmlns:a16="http://schemas.microsoft.com/office/drawing/2014/main" id="{15BB9453-A01C-4571-9DA0-340A0E291273}"/>
              </a:ext>
            </a:extLst>
          </p:cNvPr>
          <p:cNvSpPr/>
          <p:nvPr/>
        </p:nvSpPr>
        <p:spPr>
          <a:xfrm>
            <a:off x="2946767" y="1224073"/>
            <a:ext cx="3006627" cy="690860"/>
          </a:xfrm>
          <a:prstGeom prst="roundRect">
            <a:avLst>
              <a:gd name="adj" fmla="val 50000"/>
            </a:avLst>
          </a:prstGeom>
          <a:noFill/>
          <a:ln w="317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Загрузка </a:t>
            </a:r>
            <a:r>
              <a:rPr lang="ru-RU" sz="1600" b="1" i="0" dirty="0" err="1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датасета</a:t>
            </a:r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 и предобработка изображений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Google Shape;742;p22">
            <a:extLst>
              <a:ext uri="{FF2B5EF4-FFF2-40B4-BE49-F238E27FC236}">
                <a16:creationId xmlns:a16="http://schemas.microsoft.com/office/drawing/2014/main" id="{14CA4A9B-DE69-4D51-8E9B-9D5C3550086E}"/>
              </a:ext>
            </a:extLst>
          </p:cNvPr>
          <p:cNvSpPr/>
          <p:nvPr/>
        </p:nvSpPr>
        <p:spPr>
          <a:xfrm>
            <a:off x="6299202" y="1230592"/>
            <a:ext cx="2473187" cy="690860"/>
          </a:xfrm>
          <a:prstGeom prst="roundRect">
            <a:avLst>
              <a:gd name="adj" fmla="val 50000"/>
            </a:avLst>
          </a:prstGeom>
          <a:noFill/>
          <a:ln w="317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Функция аугментации изображений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Google Shape;742;p22">
            <a:extLst>
              <a:ext uri="{FF2B5EF4-FFF2-40B4-BE49-F238E27FC236}">
                <a16:creationId xmlns:a16="http://schemas.microsoft.com/office/drawing/2014/main" id="{57412C48-AEF1-49E9-AA03-3F05E4AD1405}"/>
              </a:ext>
            </a:extLst>
          </p:cNvPr>
          <p:cNvSpPr/>
          <p:nvPr/>
        </p:nvSpPr>
        <p:spPr>
          <a:xfrm>
            <a:off x="9118197" y="1224073"/>
            <a:ext cx="2778347" cy="69086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5">
                  <a:lumMod val="75000"/>
                </a:schemeClr>
              </a:gs>
              <a:gs pos="100000">
                <a:srgbClr val="DF8DCF"/>
              </a:gs>
            </a:gsLst>
            <a:lin ang="2700006" scaled="0"/>
          </a:gradFill>
          <a:ln w="3175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Определение архитектуры нейронной сети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Google Shape;742;p22">
            <a:extLst>
              <a:ext uri="{FF2B5EF4-FFF2-40B4-BE49-F238E27FC236}">
                <a16:creationId xmlns:a16="http://schemas.microsoft.com/office/drawing/2014/main" id="{C2BCFAE9-40A9-465D-8687-7DD4BC0AD83A}"/>
              </a:ext>
            </a:extLst>
          </p:cNvPr>
          <p:cNvSpPr/>
          <p:nvPr/>
        </p:nvSpPr>
        <p:spPr>
          <a:xfrm>
            <a:off x="1354122" y="2171145"/>
            <a:ext cx="2780361" cy="690860"/>
          </a:xfrm>
          <a:prstGeom prst="roundRect">
            <a:avLst>
              <a:gd name="adj" fmla="val 50000"/>
            </a:avLst>
          </a:prstGeom>
          <a:noFill/>
          <a:ln w="317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Настройка оптимизатора и функции потерь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Google Shape;742;p22">
            <a:extLst>
              <a:ext uri="{FF2B5EF4-FFF2-40B4-BE49-F238E27FC236}">
                <a16:creationId xmlns:a16="http://schemas.microsoft.com/office/drawing/2014/main" id="{B97BE163-F827-4E87-9E71-F7C4EAF20163}"/>
              </a:ext>
            </a:extLst>
          </p:cNvPr>
          <p:cNvSpPr/>
          <p:nvPr/>
        </p:nvSpPr>
        <p:spPr>
          <a:xfrm>
            <a:off x="5362288" y="2171145"/>
            <a:ext cx="2173507" cy="690860"/>
          </a:xfrm>
          <a:prstGeom prst="roundRect">
            <a:avLst>
              <a:gd name="adj" fmla="val 50000"/>
            </a:avLst>
          </a:prstGeom>
          <a:noFill/>
          <a:ln w="317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Тренировка модели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Google Shape;742;p22">
            <a:extLst>
              <a:ext uri="{FF2B5EF4-FFF2-40B4-BE49-F238E27FC236}">
                <a16:creationId xmlns:a16="http://schemas.microsoft.com/office/drawing/2014/main" id="{D8C83FC5-7E12-4323-AF0D-51639FFD57A3}"/>
              </a:ext>
            </a:extLst>
          </p:cNvPr>
          <p:cNvSpPr/>
          <p:nvPr/>
        </p:nvSpPr>
        <p:spPr>
          <a:xfrm>
            <a:off x="8763600" y="2171145"/>
            <a:ext cx="2173507" cy="690860"/>
          </a:xfrm>
          <a:prstGeom prst="roundRect">
            <a:avLst>
              <a:gd name="adj" fmla="val 50000"/>
            </a:avLst>
          </a:prstGeom>
          <a:noFill/>
          <a:ln w="317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Оценка результатов обучения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5D8146F-156A-4CCB-BA7C-71D8BFFFA1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5639"/>
          <a:stretch/>
        </p:blipFill>
        <p:spPr>
          <a:xfrm>
            <a:off x="5162540" y="3307770"/>
            <a:ext cx="3837065" cy="253635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DDB464E-FFBB-40B7-ABFD-C8B9EEAE0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8197" y="3307770"/>
            <a:ext cx="2572109" cy="217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603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E09BEDF-A88E-409B-AD53-7601ABE6D90A}"/>
              </a:ext>
            </a:extLst>
          </p:cNvPr>
          <p:cNvSpPr txBox="1"/>
          <p:nvPr/>
        </p:nvSpPr>
        <p:spPr>
          <a:xfrm>
            <a:off x="977377" y="3283288"/>
            <a:ext cx="393877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Используется функция потерь </a:t>
            </a:r>
            <a:r>
              <a:rPr lang="ru-RU" dirty="0" err="1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CrossEntropyLoss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для </a:t>
            </a:r>
            <a:r>
              <a:rPr lang="ru-RU" dirty="0" err="1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многоклассовой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классификации, а также оптимизатор Adam для обновления весов модели. Это позволяет эффективно обучать нейронную сеть.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A3AA41-8CBA-4184-87CF-425D757D0449}"/>
              </a:ext>
            </a:extLst>
          </p:cNvPr>
          <p:cNvSpPr txBox="1"/>
          <p:nvPr/>
        </p:nvSpPr>
        <p:spPr>
          <a:xfrm>
            <a:off x="4247326" y="306327"/>
            <a:ext cx="36973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i="0" dirty="0">
                <a:gradFill>
                  <a:gsLst>
                    <a:gs pos="0">
                      <a:srgbClr val="0070C0"/>
                    </a:gs>
                    <a:gs pos="100000">
                      <a:srgbClr val="DF8DCF"/>
                    </a:gs>
                  </a:gsLst>
                  <a:lin ang="2700006" scaled="0"/>
                </a:gra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Этапы разработки</a:t>
            </a:r>
          </a:p>
        </p:txBody>
      </p:sp>
      <p:sp>
        <p:nvSpPr>
          <p:cNvPr id="11" name="Google Shape;742;p22">
            <a:extLst>
              <a:ext uri="{FF2B5EF4-FFF2-40B4-BE49-F238E27FC236}">
                <a16:creationId xmlns:a16="http://schemas.microsoft.com/office/drawing/2014/main" id="{E9431615-5D21-433E-AFAB-8E158CD99875}"/>
              </a:ext>
            </a:extLst>
          </p:cNvPr>
          <p:cNvSpPr/>
          <p:nvPr/>
        </p:nvSpPr>
        <p:spPr>
          <a:xfrm>
            <a:off x="310293" y="1253341"/>
            <a:ext cx="2290667" cy="690860"/>
          </a:xfrm>
          <a:prstGeom prst="roundRect">
            <a:avLst>
              <a:gd name="adj" fmla="val 50000"/>
            </a:avLst>
          </a:prstGeom>
          <a:noFill/>
          <a:ln w="317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Импорт библиотек и модулей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8E1BCD03-48F7-4F7B-B405-BD4C56B1F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LinkedList&lt;T&gt;</a:t>
            </a:r>
            <a:endParaRPr kumimoji="0" lang="ru-RU" altLang="ru-RU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ar(--font-fk-grotesk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Google Shape;742;p22">
            <a:extLst>
              <a:ext uri="{FF2B5EF4-FFF2-40B4-BE49-F238E27FC236}">
                <a16:creationId xmlns:a16="http://schemas.microsoft.com/office/drawing/2014/main" id="{15BB9453-A01C-4571-9DA0-340A0E291273}"/>
              </a:ext>
            </a:extLst>
          </p:cNvPr>
          <p:cNvSpPr/>
          <p:nvPr/>
        </p:nvSpPr>
        <p:spPr>
          <a:xfrm>
            <a:off x="2946767" y="1224073"/>
            <a:ext cx="3006627" cy="690860"/>
          </a:xfrm>
          <a:prstGeom prst="roundRect">
            <a:avLst>
              <a:gd name="adj" fmla="val 50000"/>
            </a:avLst>
          </a:prstGeom>
          <a:noFill/>
          <a:ln w="317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Загрузка </a:t>
            </a:r>
            <a:r>
              <a:rPr lang="ru-RU" sz="1600" b="1" i="0" dirty="0" err="1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датасета</a:t>
            </a:r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 и предобработка изображений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Google Shape;742;p22">
            <a:extLst>
              <a:ext uri="{FF2B5EF4-FFF2-40B4-BE49-F238E27FC236}">
                <a16:creationId xmlns:a16="http://schemas.microsoft.com/office/drawing/2014/main" id="{14CA4A9B-DE69-4D51-8E9B-9D5C3550086E}"/>
              </a:ext>
            </a:extLst>
          </p:cNvPr>
          <p:cNvSpPr/>
          <p:nvPr/>
        </p:nvSpPr>
        <p:spPr>
          <a:xfrm>
            <a:off x="6299202" y="1230592"/>
            <a:ext cx="2473187" cy="690860"/>
          </a:xfrm>
          <a:prstGeom prst="roundRect">
            <a:avLst>
              <a:gd name="adj" fmla="val 50000"/>
            </a:avLst>
          </a:prstGeom>
          <a:noFill/>
          <a:ln w="317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Функция аугментации изображений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Google Shape;742;p22">
            <a:extLst>
              <a:ext uri="{FF2B5EF4-FFF2-40B4-BE49-F238E27FC236}">
                <a16:creationId xmlns:a16="http://schemas.microsoft.com/office/drawing/2014/main" id="{57412C48-AEF1-49E9-AA03-3F05E4AD1405}"/>
              </a:ext>
            </a:extLst>
          </p:cNvPr>
          <p:cNvSpPr/>
          <p:nvPr/>
        </p:nvSpPr>
        <p:spPr>
          <a:xfrm>
            <a:off x="9118197" y="1224073"/>
            <a:ext cx="2778347" cy="690860"/>
          </a:xfrm>
          <a:prstGeom prst="roundRect">
            <a:avLst>
              <a:gd name="adj" fmla="val 50000"/>
            </a:avLst>
          </a:prstGeom>
          <a:noFill/>
          <a:ln w="317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Определение архитектуры нейронной сети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Google Shape;742;p22">
            <a:extLst>
              <a:ext uri="{FF2B5EF4-FFF2-40B4-BE49-F238E27FC236}">
                <a16:creationId xmlns:a16="http://schemas.microsoft.com/office/drawing/2014/main" id="{C2BCFAE9-40A9-465D-8687-7DD4BC0AD83A}"/>
              </a:ext>
            </a:extLst>
          </p:cNvPr>
          <p:cNvSpPr/>
          <p:nvPr/>
        </p:nvSpPr>
        <p:spPr>
          <a:xfrm>
            <a:off x="1354122" y="2171145"/>
            <a:ext cx="2780361" cy="69086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5">
                  <a:lumMod val="75000"/>
                </a:schemeClr>
              </a:gs>
              <a:gs pos="100000">
                <a:srgbClr val="DF8DCF"/>
              </a:gs>
            </a:gsLst>
            <a:lin ang="2700006" scaled="0"/>
          </a:gradFill>
          <a:ln w="3175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Настройка оптимизатора и функции потерь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Google Shape;742;p22">
            <a:extLst>
              <a:ext uri="{FF2B5EF4-FFF2-40B4-BE49-F238E27FC236}">
                <a16:creationId xmlns:a16="http://schemas.microsoft.com/office/drawing/2014/main" id="{B97BE163-F827-4E87-9E71-F7C4EAF20163}"/>
              </a:ext>
            </a:extLst>
          </p:cNvPr>
          <p:cNvSpPr/>
          <p:nvPr/>
        </p:nvSpPr>
        <p:spPr>
          <a:xfrm>
            <a:off x="5362288" y="2171145"/>
            <a:ext cx="2173507" cy="690860"/>
          </a:xfrm>
          <a:prstGeom prst="roundRect">
            <a:avLst>
              <a:gd name="adj" fmla="val 50000"/>
            </a:avLst>
          </a:prstGeom>
          <a:noFill/>
          <a:ln w="317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Тренировка модели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Google Shape;742;p22">
            <a:extLst>
              <a:ext uri="{FF2B5EF4-FFF2-40B4-BE49-F238E27FC236}">
                <a16:creationId xmlns:a16="http://schemas.microsoft.com/office/drawing/2014/main" id="{D8C83FC5-7E12-4323-AF0D-51639FFD57A3}"/>
              </a:ext>
            </a:extLst>
          </p:cNvPr>
          <p:cNvSpPr/>
          <p:nvPr/>
        </p:nvSpPr>
        <p:spPr>
          <a:xfrm>
            <a:off x="8763600" y="2171145"/>
            <a:ext cx="2173507" cy="690860"/>
          </a:xfrm>
          <a:prstGeom prst="roundRect">
            <a:avLst>
              <a:gd name="adj" fmla="val 50000"/>
            </a:avLst>
          </a:prstGeom>
          <a:noFill/>
          <a:ln w="317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Оценка результатов обучения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6DF2A07-A84A-4888-9DAA-787DECDBA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0544" y="3913626"/>
            <a:ext cx="5570603" cy="579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229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E09BEDF-A88E-409B-AD53-7601ABE6D90A}"/>
              </a:ext>
            </a:extLst>
          </p:cNvPr>
          <p:cNvSpPr txBox="1"/>
          <p:nvPr/>
        </p:nvSpPr>
        <p:spPr>
          <a:xfrm>
            <a:off x="977377" y="3283288"/>
            <a:ext cx="393877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Функция </a:t>
            </a:r>
            <a:r>
              <a:rPr lang="ru-RU" dirty="0" err="1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train_model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отвечает за обучение модели на тренировочном наборе данных. Она отслеживает потери и точность на обучающем и </a:t>
            </a:r>
            <a:r>
              <a:rPr lang="ru-RU" dirty="0" err="1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валидационном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наборах в течение заданного числа эпох, что позволяет оценить эффективность обучения.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A3AA41-8CBA-4184-87CF-425D757D0449}"/>
              </a:ext>
            </a:extLst>
          </p:cNvPr>
          <p:cNvSpPr txBox="1"/>
          <p:nvPr/>
        </p:nvSpPr>
        <p:spPr>
          <a:xfrm>
            <a:off x="4247326" y="306327"/>
            <a:ext cx="36973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i="0" dirty="0">
                <a:gradFill>
                  <a:gsLst>
                    <a:gs pos="0">
                      <a:srgbClr val="0070C0"/>
                    </a:gs>
                    <a:gs pos="100000">
                      <a:srgbClr val="DF8DCF"/>
                    </a:gs>
                  </a:gsLst>
                  <a:lin ang="2700006" scaled="0"/>
                </a:gra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Этапы разработки</a:t>
            </a:r>
          </a:p>
        </p:txBody>
      </p:sp>
      <p:sp>
        <p:nvSpPr>
          <p:cNvPr id="11" name="Google Shape;742;p22">
            <a:extLst>
              <a:ext uri="{FF2B5EF4-FFF2-40B4-BE49-F238E27FC236}">
                <a16:creationId xmlns:a16="http://schemas.microsoft.com/office/drawing/2014/main" id="{E9431615-5D21-433E-AFAB-8E158CD99875}"/>
              </a:ext>
            </a:extLst>
          </p:cNvPr>
          <p:cNvSpPr/>
          <p:nvPr/>
        </p:nvSpPr>
        <p:spPr>
          <a:xfrm>
            <a:off x="310293" y="1253341"/>
            <a:ext cx="2290667" cy="690860"/>
          </a:xfrm>
          <a:prstGeom prst="roundRect">
            <a:avLst>
              <a:gd name="adj" fmla="val 50000"/>
            </a:avLst>
          </a:prstGeom>
          <a:noFill/>
          <a:ln w="317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Импорт библиотек и модулей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8E1BCD03-48F7-4F7B-B405-BD4C56B1F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LinkedList&lt;T&gt;</a:t>
            </a:r>
            <a:endParaRPr kumimoji="0" lang="ru-RU" altLang="ru-RU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ar(--font-fk-grotesk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Google Shape;742;p22">
            <a:extLst>
              <a:ext uri="{FF2B5EF4-FFF2-40B4-BE49-F238E27FC236}">
                <a16:creationId xmlns:a16="http://schemas.microsoft.com/office/drawing/2014/main" id="{15BB9453-A01C-4571-9DA0-340A0E291273}"/>
              </a:ext>
            </a:extLst>
          </p:cNvPr>
          <p:cNvSpPr/>
          <p:nvPr/>
        </p:nvSpPr>
        <p:spPr>
          <a:xfrm>
            <a:off x="2946767" y="1224073"/>
            <a:ext cx="3006627" cy="690860"/>
          </a:xfrm>
          <a:prstGeom prst="roundRect">
            <a:avLst>
              <a:gd name="adj" fmla="val 50000"/>
            </a:avLst>
          </a:prstGeom>
          <a:noFill/>
          <a:ln w="317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Загрузка </a:t>
            </a:r>
            <a:r>
              <a:rPr lang="ru-RU" sz="1600" b="1" i="0" dirty="0" err="1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датасета</a:t>
            </a:r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 и предобработка изображений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Google Shape;742;p22">
            <a:extLst>
              <a:ext uri="{FF2B5EF4-FFF2-40B4-BE49-F238E27FC236}">
                <a16:creationId xmlns:a16="http://schemas.microsoft.com/office/drawing/2014/main" id="{14CA4A9B-DE69-4D51-8E9B-9D5C3550086E}"/>
              </a:ext>
            </a:extLst>
          </p:cNvPr>
          <p:cNvSpPr/>
          <p:nvPr/>
        </p:nvSpPr>
        <p:spPr>
          <a:xfrm>
            <a:off x="6299202" y="1230592"/>
            <a:ext cx="2473187" cy="690860"/>
          </a:xfrm>
          <a:prstGeom prst="roundRect">
            <a:avLst>
              <a:gd name="adj" fmla="val 50000"/>
            </a:avLst>
          </a:prstGeom>
          <a:noFill/>
          <a:ln w="317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Функция аугментации изображений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Google Shape;742;p22">
            <a:extLst>
              <a:ext uri="{FF2B5EF4-FFF2-40B4-BE49-F238E27FC236}">
                <a16:creationId xmlns:a16="http://schemas.microsoft.com/office/drawing/2014/main" id="{57412C48-AEF1-49E9-AA03-3F05E4AD1405}"/>
              </a:ext>
            </a:extLst>
          </p:cNvPr>
          <p:cNvSpPr/>
          <p:nvPr/>
        </p:nvSpPr>
        <p:spPr>
          <a:xfrm>
            <a:off x="9118197" y="1224073"/>
            <a:ext cx="2778347" cy="690860"/>
          </a:xfrm>
          <a:prstGeom prst="roundRect">
            <a:avLst>
              <a:gd name="adj" fmla="val 50000"/>
            </a:avLst>
          </a:prstGeom>
          <a:noFill/>
          <a:ln w="317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Определение архитектуры нейронной сети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Google Shape;742;p22">
            <a:extLst>
              <a:ext uri="{FF2B5EF4-FFF2-40B4-BE49-F238E27FC236}">
                <a16:creationId xmlns:a16="http://schemas.microsoft.com/office/drawing/2014/main" id="{C2BCFAE9-40A9-465D-8687-7DD4BC0AD83A}"/>
              </a:ext>
            </a:extLst>
          </p:cNvPr>
          <p:cNvSpPr/>
          <p:nvPr/>
        </p:nvSpPr>
        <p:spPr>
          <a:xfrm>
            <a:off x="1354122" y="2171145"/>
            <a:ext cx="2780361" cy="690860"/>
          </a:xfrm>
          <a:prstGeom prst="roundRect">
            <a:avLst>
              <a:gd name="adj" fmla="val 50000"/>
            </a:avLst>
          </a:prstGeom>
          <a:noFill/>
          <a:ln w="317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Настройка оптимизатора и функции потерь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Google Shape;742;p22">
            <a:extLst>
              <a:ext uri="{FF2B5EF4-FFF2-40B4-BE49-F238E27FC236}">
                <a16:creationId xmlns:a16="http://schemas.microsoft.com/office/drawing/2014/main" id="{B97BE163-F827-4E87-9E71-F7C4EAF20163}"/>
              </a:ext>
            </a:extLst>
          </p:cNvPr>
          <p:cNvSpPr/>
          <p:nvPr/>
        </p:nvSpPr>
        <p:spPr>
          <a:xfrm>
            <a:off x="5362288" y="2171145"/>
            <a:ext cx="2173507" cy="69086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5">
                  <a:lumMod val="75000"/>
                </a:schemeClr>
              </a:gs>
              <a:gs pos="100000">
                <a:srgbClr val="DF8DCF"/>
              </a:gs>
            </a:gsLst>
            <a:lin ang="2700006" scaled="0"/>
          </a:gradFill>
          <a:ln w="3175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Тренировка модели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Google Shape;742;p22">
            <a:extLst>
              <a:ext uri="{FF2B5EF4-FFF2-40B4-BE49-F238E27FC236}">
                <a16:creationId xmlns:a16="http://schemas.microsoft.com/office/drawing/2014/main" id="{D8C83FC5-7E12-4323-AF0D-51639FFD57A3}"/>
              </a:ext>
            </a:extLst>
          </p:cNvPr>
          <p:cNvSpPr/>
          <p:nvPr/>
        </p:nvSpPr>
        <p:spPr>
          <a:xfrm>
            <a:off x="8763600" y="2171145"/>
            <a:ext cx="2173507" cy="690860"/>
          </a:xfrm>
          <a:prstGeom prst="roundRect">
            <a:avLst>
              <a:gd name="adj" fmla="val 50000"/>
            </a:avLst>
          </a:prstGeom>
          <a:noFill/>
          <a:ln w="317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Оценка результатов обучения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7E09419-1841-4B83-9650-CF1CF537C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5017" y="3111698"/>
            <a:ext cx="3425935" cy="356988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E6F4ECF-B3D0-4199-9F43-A9E279705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987" y="4368619"/>
            <a:ext cx="4275557" cy="1843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650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E09BEDF-A88E-409B-AD53-7601ABE6D90A}"/>
              </a:ext>
            </a:extLst>
          </p:cNvPr>
          <p:cNvSpPr txBox="1"/>
          <p:nvPr/>
        </p:nvSpPr>
        <p:spPr>
          <a:xfrm>
            <a:off x="2552823" y="3837286"/>
            <a:ext cx="73233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После завершения обучения модель оценивается с использованием </a:t>
            </a:r>
            <a:r>
              <a:rPr lang="ru-RU" dirty="0" err="1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валидационного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набора данных. Вычисляются метрики точности, полноты и F1-меры с помощью функции </a:t>
            </a:r>
            <a:r>
              <a:rPr lang="ru-RU" dirty="0" err="1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classification_report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что позволяет понять, насколько хорошо модель распознает эмоции по лицам.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A3AA41-8CBA-4184-87CF-425D757D0449}"/>
              </a:ext>
            </a:extLst>
          </p:cNvPr>
          <p:cNvSpPr txBox="1"/>
          <p:nvPr/>
        </p:nvSpPr>
        <p:spPr>
          <a:xfrm>
            <a:off x="4247326" y="306327"/>
            <a:ext cx="36973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i="0" dirty="0">
                <a:gradFill>
                  <a:gsLst>
                    <a:gs pos="0">
                      <a:srgbClr val="0070C0"/>
                    </a:gs>
                    <a:gs pos="100000">
                      <a:srgbClr val="DF8DCF"/>
                    </a:gs>
                  </a:gsLst>
                  <a:lin ang="2700006" scaled="0"/>
                </a:gra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Этапы разработки</a:t>
            </a:r>
          </a:p>
        </p:txBody>
      </p:sp>
      <p:sp>
        <p:nvSpPr>
          <p:cNvPr id="11" name="Google Shape;742;p22">
            <a:extLst>
              <a:ext uri="{FF2B5EF4-FFF2-40B4-BE49-F238E27FC236}">
                <a16:creationId xmlns:a16="http://schemas.microsoft.com/office/drawing/2014/main" id="{E9431615-5D21-433E-AFAB-8E158CD99875}"/>
              </a:ext>
            </a:extLst>
          </p:cNvPr>
          <p:cNvSpPr/>
          <p:nvPr/>
        </p:nvSpPr>
        <p:spPr>
          <a:xfrm>
            <a:off x="310293" y="1253341"/>
            <a:ext cx="2290667" cy="690860"/>
          </a:xfrm>
          <a:prstGeom prst="roundRect">
            <a:avLst>
              <a:gd name="adj" fmla="val 50000"/>
            </a:avLst>
          </a:prstGeom>
          <a:noFill/>
          <a:ln w="317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Импорт библиотек и модулей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8E1BCD03-48F7-4F7B-B405-BD4C56B1F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ar(--font-berkeley-mono)"/>
              </a:rPr>
              <a:t>LinkedList&lt;T&gt;</a:t>
            </a:r>
            <a:endParaRPr kumimoji="0" lang="ru-RU" altLang="ru-RU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ar(--font-fk-grotesk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Google Shape;742;p22">
            <a:extLst>
              <a:ext uri="{FF2B5EF4-FFF2-40B4-BE49-F238E27FC236}">
                <a16:creationId xmlns:a16="http://schemas.microsoft.com/office/drawing/2014/main" id="{15BB9453-A01C-4571-9DA0-340A0E291273}"/>
              </a:ext>
            </a:extLst>
          </p:cNvPr>
          <p:cNvSpPr/>
          <p:nvPr/>
        </p:nvSpPr>
        <p:spPr>
          <a:xfrm>
            <a:off x="2946767" y="1224073"/>
            <a:ext cx="3006627" cy="690860"/>
          </a:xfrm>
          <a:prstGeom prst="roundRect">
            <a:avLst>
              <a:gd name="adj" fmla="val 50000"/>
            </a:avLst>
          </a:prstGeom>
          <a:noFill/>
          <a:ln w="317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Загрузка </a:t>
            </a:r>
            <a:r>
              <a:rPr lang="ru-RU" sz="1600" b="1" i="0" dirty="0" err="1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датасета</a:t>
            </a:r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 и предобработка изображений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Google Shape;742;p22">
            <a:extLst>
              <a:ext uri="{FF2B5EF4-FFF2-40B4-BE49-F238E27FC236}">
                <a16:creationId xmlns:a16="http://schemas.microsoft.com/office/drawing/2014/main" id="{14CA4A9B-DE69-4D51-8E9B-9D5C3550086E}"/>
              </a:ext>
            </a:extLst>
          </p:cNvPr>
          <p:cNvSpPr/>
          <p:nvPr/>
        </p:nvSpPr>
        <p:spPr>
          <a:xfrm>
            <a:off x="6299202" y="1230592"/>
            <a:ext cx="2473187" cy="690860"/>
          </a:xfrm>
          <a:prstGeom prst="roundRect">
            <a:avLst>
              <a:gd name="adj" fmla="val 50000"/>
            </a:avLst>
          </a:prstGeom>
          <a:noFill/>
          <a:ln w="317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Функция аугментации изображений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Google Shape;742;p22">
            <a:extLst>
              <a:ext uri="{FF2B5EF4-FFF2-40B4-BE49-F238E27FC236}">
                <a16:creationId xmlns:a16="http://schemas.microsoft.com/office/drawing/2014/main" id="{57412C48-AEF1-49E9-AA03-3F05E4AD1405}"/>
              </a:ext>
            </a:extLst>
          </p:cNvPr>
          <p:cNvSpPr/>
          <p:nvPr/>
        </p:nvSpPr>
        <p:spPr>
          <a:xfrm>
            <a:off x="9118197" y="1224073"/>
            <a:ext cx="2778347" cy="690860"/>
          </a:xfrm>
          <a:prstGeom prst="roundRect">
            <a:avLst>
              <a:gd name="adj" fmla="val 50000"/>
            </a:avLst>
          </a:prstGeom>
          <a:noFill/>
          <a:ln w="317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Определение архитектуры нейронной сети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Google Shape;742;p22">
            <a:extLst>
              <a:ext uri="{FF2B5EF4-FFF2-40B4-BE49-F238E27FC236}">
                <a16:creationId xmlns:a16="http://schemas.microsoft.com/office/drawing/2014/main" id="{C2BCFAE9-40A9-465D-8687-7DD4BC0AD83A}"/>
              </a:ext>
            </a:extLst>
          </p:cNvPr>
          <p:cNvSpPr/>
          <p:nvPr/>
        </p:nvSpPr>
        <p:spPr>
          <a:xfrm>
            <a:off x="1354122" y="2171145"/>
            <a:ext cx="2780361" cy="690860"/>
          </a:xfrm>
          <a:prstGeom prst="roundRect">
            <a:avLst>
              <a:gd name="adj" fmla="val 50000"/>
            </a:avLst>
          </a:prstGeom>
          <a:noFill/>
          <a:ln w="317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Настройка оптимизатора и функции потерь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Google Shape;742;p22">
            <a:extLst>
              <a:ext uri="{FF2B5EF4-FFF2-40B4-BE49-F238E27FC236}">
                <a16:creationId xmlns:a16="http://schemas.microsoft.com/office/drawing/2014/main" id="{B97BE163-F827-4E87-9E71-F7C4EAF20163}"/>
              </a:ext>
            </a:extLst>
          </p:cNvPr>
          <p:cNvSpPr/>
          <p:nvPr/>
        </p:nvSpPr>
        <p:spPr>
          <a:xfrm>
            <a:off x="5362288" y="2171145"/>
            <a:ext cx="2173507" cy="690860"/>
          </a:xfrm>
          <a:prstGeom prst="roundRect">
            <a:avLst>
              <a:gd name="adj" fmla="val 50000"/>
            </a:avLst>
          </a:prstGeom>
          <a:noFill/>
          <a:ln w="31750">
            <a:solidFill>
              <a:schemeClr val="bg1">
                <a:lumMod val="95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Тренировка модели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Google Shape;742;p22">
            <a:extLst>
              <a:ext uri="{FF2B5EF4-FFF2-40B4-BE49-F238E27FC236}">
                <a16:creationId xmlns:a16="http://schemas.microsoft.com/office/drawing/2014/main" id="{D8C83FC5-7E12-4323-AF0D-51639FFD57A3}"/>
              </a:ext>
            </a:extLst>
          </p:cNvPr>
          <p:cNvSpPr/>
          <p:nvPr/>
        </p:nvSpPr>
        <p:spPr>
          <a:xfrm>
            <a:off x="8763600" y="2171145"/>
            <a:ext cx="2173507" cy="69086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5">
                  <a:lumMod val="75000"/>
                </a:schemeClr>
              </a:gs>
              <a:gs pos="100000">
                <a:srgbClr val="DF8DCF"/>
              </a:gs>
            </a:gsLst>
            <a:lin ang="2700006" scaled="0"/>
          </a:gradFill>
          <a:ln w="3175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6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Оценка результатов обучения</a:t>
            </a:r>
            <a:endParaRPr lang="ru-RU" sz="1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144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22809C-4965-418F-9C09-8D72654BDFD6}"/>
              </a:ext>
            </a:extLst>
          </p:cNvPr>
          <p:cNvSpPr txBox="1"/>
          <p:nvPr/>
        </p:nvSpPr>
        <p:spPr>
          <a:xfrm>
            <a:off x="2605438" y="558381"/>
            <a:ext cx="6981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100000">
                      <a:srgbClr val="DF8DCF"/>
                    </a:gs>
                  </a:gsLst>
                  <a:lin ang="2700006" scaled="0"/>
                </a:gradFill>
              </a:rPr>
              <a:t>Визуализация результатов обучения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943742E-FBFF-4682-92BD-E7CCAC6BB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940" y="1823813"/>
            <a:ext cx="9812119" cy="3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215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22809C-4965-418F-9C09-8D72654BDFD6}"/>
              </a:ext>
            </a:extLst>
          </p:cNvPr>
          <p:cNvSpPr txBox="1"/>
          <p:nvPr/>
        </p:nvSpPr>
        <p:spPr>
          <a:xfrm>
            <a:off x="542958" y="802221"/>
            <a:ext cx="5116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100000">
                      <a:srgbClr val="DF8DCF"/>
                    </a:gs>
                  </a:gsLst>
                  <a:lin ang="2700006" scaled="0"/>
                </a:gradFill>
              </a:rPr>
              <a:t>Классификационный отчет: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D680561-5760-414F-A066-9D16F9C6A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692" y="2024236"/>
            <a:ext cx="5480615" cy="3208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345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22809C-4965-418F-9C09-8D72654BDFD6}"/>
              </a:ext>
            </a:extLst>
          </p:cNvPr>
          <p:cNvSpPr txBox="1"/>
          <p:nvPr/>
        </p:nvSpPr>
        <p:spPr>
          <a:xfrm>
            <a:off x="542958" y="802221"/>
            <a:ext cx="5116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100000">
                      <a:srgbClr val="DF8DCF"/>
                    </a:gs>
                  </a:gsLst>
                  <a:lin ang="2700006" scaled="0"/>
                </a:gradFill>
              </a:rPr>
              <a:t>Классификационный отчет: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D680561-5760-414F-A066-9D16F9C6A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62" y="3284076"/>
            <a:ext cx="4317718" cy="252744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2963896-060C-4D94-A1A9-1F0105676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9120" y="953230"/>
            <a:ext cx="6168249" cy="4951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7938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22809C-4965-418F-9C09-8D72654BDFD6}"/>
              </a:ext>
            </a:extLst>
          </p:cNvPr>
          <p:cNvSpPr txBox="1"/>
          <p:nvPr/>
        </p:nvSpPr>
        <p:spPr>
          <a:xfrm>
            <a:off x="542958" y="802221"/>
            <a:ext cx="5116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100000">
                      <a:srgbClr val="DF8DCF"/>
                    </a:gs>
                  </a:gsLst>
                  <a:lin ang="2700006" scaled="0"/>
                </a:gradFill>
              </a:rPr>
              <a:t>Тест модели: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9B59D8C-ABF0-40F8-B78E-5BD56B40B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811" y="1757230"/>
            <a:ext cx="3242730" cy="334354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2A5583D-198F-48AD-B57B-4AD0D7C72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6671" y="1757230"/>
            <a:ext cx="3314383" cy="338490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11CEA00-E600-4076-B232-84B8A5D62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0184" y="1757230"/>
            <a:ext cx="3314383" cy="3367272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2404CAA-30CF-44C0-A375-252D66D4189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683" t="15656" b="8566"/>
          <a:stretch/>
        </p:blipFill>
        <p:spPr>
          <a:xfrm>
            <a:off x="3677541" y="909188"/>
            <a:ext cx="3203351" cy="37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408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42;p22">
            <a:extLst>
              <a:ext uri="{FF2B5EF4-FFF2-40B4-BE49-F238E27FC236}">
                <a16:creationId xmlns:a16="http://schemas.microsoft.com/office/drawing/2014/main" id="{038BAA56-B894-40FA-8649-22A89723F029}"/>
              </a:ext>
            </a:extLst>
          </p:cNvPr>
          <p:cNvSpPr/>
          <p:nvPr/>
        </p:nvSpPr>
        <p:spPr>
          <a:xfrm>
            <a:off x="3709978" y="2795526"/>
            <a:ext cx="4772043" cy="1266948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rgbClr val="DF8DCF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4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 </a:t>
            </a:r>
            <a:r>
              <a:rPr lang="ru-RU" sz="3200" b="1" i="0" dirty="0">
                <a:solidFill>
                  <a:schemeClr val="bg1">
                    <a:lumMod val="95000"/>
                  </a:schemeClr>
                </a:solidFill>
                <a:effectLst/>
                <a:latin typeface="__fkGroteskNeue_598ab8"/>
              </a:rPr>
              <a:t>Спасибо за внимание!</a:t>
            </a:r>
            <a:endParaRPr lang="ru-RU" sz="24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87387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748</Words>
  <Application>Microsoft Office PowerPoint</Application>
  <PresentationFormat>Широкоэкранный</PresentationFormat>
  <Paragraphs>89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4" baseType="lpstr">
      <vt:lpstr>__fkGroteskNeue_598ab8</vt:lpstr>
      <vt:lpstr>Arial</vt:lpstr>
      <vt:lpstr>Calibri</vt:lpstr>
      <vt:lpstr>Calibri Light</vt:lpstr>
      <vt:lpstr>Tahoma</vt:lpstr>
      <vt:lpstr>var(--font-berkeley-mono)</vt:lpstr>
      <vt:lpstr>var(--font-fk-grotesk)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Усенова Эля</dc:creator>
  <cp:lastModifiedBy>Усенова Эля</cp:lastModifiedBy>
  <cp:revision>117</cp:revision>
  <dcterms:created xsi:type="dcterms:W3CDTF">2024-12-18T16:04:03Z</dcterms:created>
  <dcterms:modified xsi:type="dcterms:W3CDTF">2024-12-24T22:49:50Z</dcterms:modified>
</cp:coreProperties>
</file>